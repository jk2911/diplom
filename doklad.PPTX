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72" r:id="rId3"/>
    <p:sldId id="257" r:id="rId4"/>
    <p:sldId id="258" r:id="rId5"/>
    <p:sldId id="273" r:id="rId6"/>
    <p:sldId id="266" r:id="rId7"/>
    <p:sldId id="274" r:id="rId8"/>
    <p:sldId id="275" r:id="rId9"/>
    <p:sldId id="267" r:id="rId10"/>
    <p:sldId id="268" r:id="rId11"/>
    <p:sldId id="269" r:id="rId12"/>
    <p:sldId id="270" r:id="rId13"/>
    <p:sldId id="271" r:id="rId14"/>
    <p:sldId id="265" r:id="rId1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65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0F68FA1-4469-472D-AB3D-AC1E3E35D628}" type="datetimeFigureOut">
              <a:rPr lang="ru-RU" smtClean="0"/>
              <a:t>07.06.2023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B26979-5C81-4CB4-82ED-647B642791C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45106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B26979-5C81-4CB4-82ED-647B642791C0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81529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B26979-5C81-4CB4-82ED-647B642791C0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3205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0F56DA-C1F9-4AC5-87A8-B55E34AA2CD5}" type="datetimeFigureOut">
              <a:rPr lang="ru-RU" smtClean="0"/>
              <a:t>07.06.2023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9334B-E807-45CE-B258-1FA06C163E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83151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0F56DA-C1F9-4AC5-87A8-B55E34AA2CD5}" type="datetimeFigureOut">
              <a:rPr lang="ru-RU" smtClean="0"/>
              <a:t>07.06.2023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9334B-E807-45CE-B258-1FA06C163E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05048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0F56DA-C1F9-4AC5-87A8-B55E34AA2CD5}" type="datetimeFigureOut">
              <a:rPr lang="ru-RU" smtClean="0"/>
              <a:t>07.06.2023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9334B-E807-45CE-B258-1FA06C163E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721766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0F56DA-C1F9-4AC5-87A8-B55E34AA2CD5}" type="datetimeFigureOut">
              <a:rPr lang="ru-RU" smtClean="0"/>
              <a:t>07.06.2023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9334B-E807-45CE-B258-1FA06C163E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518841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0F56DA-C1F9-4AC5-87A8-B55E34AA2CD5}" type="datetimeFigureOut">
              <a:rPr lang="ru-RU" smtClean="0"/>
              <a:t>07.06.2023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9334B-E807-45CE-B258-1FA06C163E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55285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0F56DA-C1F9-4AC5-87A8-B55E34AA2CD5}" type="datetimeFigureOut">
              <a:rPr lang="ru-RU" smtClean="0"/>
              <a:t>07.06.2023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9334B-E807-45CE-B258-1FA06C163E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99671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0F56DA-C1F9-4AC5-87A8-B55E34AA2CD5}" type="datetimeFigureOut">
              <a:rPr lang="ru-RU" smtClean="0"/>
              <a:t>07.06.2023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9334B-E807-45CE-B258-1FA06C163E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105466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0F56DA-C1F9-4AC5-87A8-B55E34AA2CD5}" type="datetimeFigureOut">
              <a:rPr lang="ru-RU" smtClean="0"/>
              <a:t>07.06.2023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9334B-E807-45CE-B258-1FA06C163E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09551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0F56DA-C1F9-4AC5-87A8-B55E34AA2CD5}" type="datetimeFigureOut">
              <a:rPr lang="ru-RU" smtClean="0"/>
              <a:t>07.06.2023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9334B-E807-45CE-B258-1FA06C163E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6966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0F56DA-C1F9-4AC5-87A8-B55E34AA2CD5}" type="datetimeFigureOut">
              <a:rPr lang="ru-RU" smtClean="0"/>
              <a:t>07.06.2023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9334B-E807-45CE-B258-1FA06C163E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079028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0F56DA-C1F9-4AC5-87A8-B55E34AA2CD5}" type="datetimeFigureOut">
              <a:rPr lang="ru-RU" smtClean="0"/>
              <a:t>07.06.2023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9334B-E807-45CE-B258-1FA06C163E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130489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0F56DA-C1F9-4AC5-87A8-B55E34AA2CD5}" type="datetimeFigureOut">
              <a:rPr lang="ru-RU" smtClean="0"/>
              <a:t>07.06.2023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29334B-E807-45CE-B258-1FA06C163E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02719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9" Type="http://schemas.openxmlformats.org/officeDocument/2006/relationships/image" Target="../media/image14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4826"/>
            <a:ext cx="12192000" cy="6872825"/>
          </a:xfrm>
          <a:prstGeom prst="rect">
            <a:avLst/>
          </a:prstGeom>
        </p:spPr>
      </p:pic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3A24C834-B741-4195-B095-CF0589AF7461}"/>
              </a:ext>
            </a:extLst>
          </p:cNvPr>
          <p:cNvSpPr/>
          <p:nvPr/>
        </p:nvSpPr>
        <p:spPr>
          <a:xfrm>
            <a:off x="-1" y="-14826"/>
            <a:ext cx="12192000" cy="2176896"/>
          </a:xfrm>
          <a:prstGeom prst="rect">
            <a:avLst/>
          </a:prstGeom>
          <a:solidFill>
            <a:srgbClr val="607090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3A24C834-B741-4195-B095-CF0589AF7461}"/>
              </a:ext>
            </a:extLst>
          </p:cNvPr>
          <p:cNvSpPr/>
          <p:nvPr/>
        </p:nvSpPr>
        <p:spPr>
          <a:xfrm>
            <a:off x="0" y="4979872"/>
            <a:ext cx="12192000" cy="1878127"/>
          </a:xfrm>
          <a:prstGeom prst="rect">
            <a:avLst/>
          </a:prstGeom>
          <a:solidFill>
            <a:srgbClr val="607090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3A24C834-B741-4195-B095-CF0589AF7461}"/>
              </a:ext>
            </a:extLst>
          </p:cNvPr>
          <p:cNvSpPr/>
          <p:nvPr/>
        </p:nvSpPr>
        <p:spPr>
          <a:xfrm>
            <a:off x="0" y="2164080"/>
            <a:ext cx="12192000" cy="2819400"/>
          </a:xfrm>
          <a:prstGeom prst="rect">
            <a:avLst/>
          </a:prstGeom>
          <a:solidFill>
            <a:srgbClr val="607090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r>
              <a:rPr lang="ru-RU" dirty="0" smtClean="0"/>
              <a:t/>
            </a:r>
            <a:br>
              <a:rPr lang="ru-RU" dirty="0" smtClean="0"/>
            </a:br>
            <a:r>
              <a:rPr lang="ru-RU" dirty="0"/>
              <a:t> </a:t>
            </a:r>
          </a:p>
        </p:txBody>
      </p:sp>
      <p:sp>
        <p:nvSpPr>
          <p:cNvPr id="8" name="TextBox 7"/>
          <p:cNvSpPr txBox="1"/>
          <p:nvPr/>
        </p:nvSpPr>
        <p:spPr>
          <a:xfrm flipH="1">
            <a:off x="0" y="149824"/>
            <a:ext cx="12192001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МИНИСТЕРСТВО ОБРАЗОВАНИЯ РЕСПУБЛИКИ БЕЛАРУСЬ</a:t>
            </a:r>
          </a:p>
          <a:p>
            <a:pPr algn="ctr"/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Учреждения образования  </a:t>
            </a:r>
          </a:p>
          <a:p>
            <a:pPr algn="ctr"/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«БЕЛОРУССКИЙ ГОСУДАРСТВЕННЫЙ ТЕХНОЛОГИЧЕСКИЙ УНИВЕРСИТЕТ»</a:t>
            </a:r>
          </a:p>
          <a:p>
            <a:pPr algn="ctr"/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  <a:b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</a:br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Факультет информационных технологий</a:t>
            </a:r>
            <a:b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</a:br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Кафедра информационных систем и технологий</a:t>
            </a:r>
          </a:p>
          <a:p>
            <a:pPr algn="ctr"/>
            <a:r>
              <a:rPr lang="ru-RU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Специальность 1-</a:t>
            </a:r>
            <a:r>
              <a:rPr lang="en-US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40</a:t>
            </a:r>
            <a:r>
              <a:rPr lang="ru-RU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0</a:t>
            </a:r>
            <a:r>
              <a:rPr lang="en-US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5</a:t>
            </a:r>
            <a:r>
              <a:rPr lang="ru-RU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0</a:t>
            </a:r>
            <a:r>
              <a:rPr lang="en-US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1</a:t>
            </a:r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 </a:t>
            </a:r>
            <a:r>
              <a:rPr lang="ru-RU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«</a:t>
            </a:r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Информационные системы и технологии</a:t>
            </a:r>
            <a:r>
              <a:rPr lang="ru-RU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»</a:t>
            </a:r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  <a:b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</a:br>
            <a:endParaRPr lang="ru-RU" sz="1600" dirty="0">
              <a:solidFill>
                <a:schemeClr val="bg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9" name="TextBox 8"/>
          <p:cNvSpPr txBox="1"/>
          <p:nvPr/>
        </p:nvSpPr>
        <p:spPr>
          <a:xfrm flipH="1">
            <a:off x="2" y="2390324"/>
            <a:ext cx="121919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000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Дипломн</a:t>
            </a:r>
            <a:r>
              <a:rPr lang="ru-RU" sz="4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ы</a:t>
            </a:r>
            <a:r>
              <a:rPr lang="ru-RU" sz="4000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й</a:t>
            </a:r>
            <a:r>
              <a:rPr lang="ru-RU" sz="4000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itchFamily="2" charset="-52"/>
              </a:rPr>
              <a:t> </a:t>
            </a:r>
            <a:r>
              <a:rPr lang="ru-RU" sz="4000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проект</a:t>
            </a:r>
            <a:endParaRPr lang="ru-RU" sz="40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 flipH="1">
            <a:off x="134811" y="3207729"/>
            <a:ext cx="121920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Веб-приложение</a:t>
            </a:r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</a:rPr>
              <a:t> </a:t>
            </a:r>
            <a:r>
              <a:rPr lang="ru-RU" sz="2800" dirty="0" smtClean="0">
                <a:solidFill>
                  <a:schemeClr val="bg1"/>
                </a:solidFill>
                <a:latin typeface="Times New Roman" panose="02020603050405020304" pitchFamily="18" charset="0"/>
              </a:rPr>
              <a:t>для букмекерских ставок на футбольные события</a:t>
            </a:r>
            <a:endParaRPr lang="ru-RU" sz="2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430823" y="5439989"/>
            <a:ext cx="8334102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Дипломник: </a:t>
            </a:r>
            <a:r>
              <a:rPr lang="ru-RU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Гой Максим Антонович</a:t>
            </a:r>
            <a:endParaRPr lang="ru-RU" sz="1600" dirty="0">
              <a:solidFill>
                <a:schemeClr val="bg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r>
              <a:rPr lang="ru-RU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Руководитель: </a:t>
            </a:r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преподаватель-стажёр </a:t>
            </a:r>
            <a:r>
              <a:rPr lang="ru-RU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Комарова Елизавета Ивановна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5382501" y="6444734"/>
            <a:ext cx="122341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Минск </a:t>
            </a:r>
            <a:r>
              <a:rPr lang="ru-RU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2023</a:t>
            </a:r>
            <a:endParaRPr lang="ru-RU" sz="1600" dirty="0">
              <a:solidFill>
                <a:schemeClr val="bg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25201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200757" y="153865"/>
            <a:ext cx="11790485" cy="655026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/>
              </a:solidFill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539430" y="369249"/>
            <a:ext cx="1664238" cy="61555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400" b="1" dirty="0" smtClean="0">
                <a:latin typeface="+mj-lt"/>
                <a:cs typeface="Arial" panose="020B0604020202020204" pitchFamily="34" charset="0"/>
              </a:rPr>
              <a:t>Аналоги</a:t>
            </a:r>
            <a:endParaRPr lang="ru-BY" sz="3400" b="1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A13F02C5-D91C-41C8-A768-087FD6AD5394}"/>
              </a:ext>
            </a:extLst>
          </p:cNvPr>
          <p:cNvSpPr/>
          <p:nvPr/>
        </p:nvSpPr>
        <p:spPr>
          <a:xfrm rot="16200000">
            <a:off x="-1900974" y="3313251"/>
            <a:ext cx="4461521" cy="231496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A13F02C5-D91C-41C8-A768-087FD6AD5394}"/>
              </a:ext>
            </a:extLst>
          </p:cNvPr>
          <p:cNvSpPr/>
          <p:nvPr/>
        </p:nvSpPr>
        <p:spPr>
          <a:xfrm rot="16200000">
            <a:off x="9644733" y="3313252"/>
            <a:ext cx="4461521" cy="231496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3" name="Рисунок 12"/>
          <p:cNvPicPr/>
          <p:nvPr/>
        </p:nvPicPr>
        <p:blipFill>
          <a:blip r:embed="rId3"/>
          <a:stretch>
            <a:fillRect/>
          </a:stretch>
        </p:blipFill>
        <p:spPr>
          <a:xfrm>
            <a:off x="1007745" y="1277939"/>
            <a:ext cx="4824681" cy="2322512"/>
          </a:xfrm>
          <a:prstGeom prst="rect">
            <a:avLst/>
          </a:prstGeom>
        </p:spPr>
      </p:pic>
      <p:pic>
        <p:nvPicPr>
          <p:cNvPr id="14" name="Рисунок 13"/>
          <p:cNvPicPr/>
          <p:nvPr/>
        </p:nvPicPr>
        <p:blipFill>
          <a:blip r:embed="rId4"/>
          <a:stretch>
            <a:fillRect/>
          </a:stretch>
        </p:blipFill>
        <p:spPr>
          <a:xfrm>
            <a:off x="6372854" y="1872061"/>
            <a:ext cx="5124417" cy="252333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5" name="Рисунок 14"/>
          <p:cNvPicPr/>
          <p:nvPr/>
        </p:nvPicPr>
        <p:blipFill>
          <a:blip r:embed="rId5"/>
          <a:stretch>
            <a:fillRect/>
          </a:stretch>
        </p:blipFill>
        <p:spPr>
          <a:xfrm>
            <a:off x="1279770" y="3914837"/>
            <a:ext cx="4816229" cy="247491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5429453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200757" y="153865"/>
            <a:ext cx="11790485" cy="655026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/>
              </a:solidFill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539430" y="369249"/>
            <a:ext cx="2768707" cy="61555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400" b="1" dirty="0" smtClean="0">
                <a:latin typeface="+mj-lt"/>
                <a:cs typeface="Arial" panose="020B0604020202020204" pitchFamily="34" charset="0"/>
              </a:rPr>
              <a:t>Цели и задачи</a:t>
            </a:r>
            <a:endParaRPr lang="ru-BY" sz="3400" b="1" dirty="0">
              <a:latin typeface="+mj-lt"/>
              <a:cs typeface="Arial" panose="020B0604020202020204" pitchFamily="34" charset="0"/>
            </a:endParaRPr>
          </a:p>
        </p:txBody>
      </p:sp>
      <p:pic>
        <p:nvPicPr>
          <p:cNvPr id="1028" name="Picture 4" descr="https://top-fon.com/uploads/posts/2023-02/1675217466_top-fon-com-p-fon-dlya-prezentatsii-tsel-126.jp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430" y="1215575"/>
            <a:ext cx="2671833" cy="2003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https://top-fon.com/uploads/posts/2023-02/1675217541_top-fon-com-p-fon-dlya-prezentatsii-tsel-161.jp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46619" y="3737828"/>
            <a:ext cx="2741657" cy="2028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Прямоугольник 5"/>
          <p:cNvSpPr/>
          <p:nvPr/>
        </p:nvSpPr>
        <p:spPr>
          <a:xfrm>
            <a:off x="3549936" y="2048560"/>
            <a:ext cx="791816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Цель дипломного проекта: </a:t>
            </a:r>
            <a:r>
              <a:rPr lang="ru-RU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разработать веб-приложение </a:t>
            </a:r>
            <a:r>
              <a:rPr lang="ru-RU" dirty="0" smtClean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для букмекерских ставок на футбольные события. </a:t>
            </a:r>
            <a:endParaRPr lang="ru-RU" sz="16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10" name="Прямоугольник 9"/>
          <p:cNvSpPr/>
          <p:nvPr/>
        </p:nvSpPr>
        <p:spPr>
          <a:xfrm>
            <a:off x="646292" y="3059470"/>
            <a:ext cx="8334102" cy="33855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Функционально должны быть выполнены следующие задачи: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 err="1"/>
              <a:t>регистрация</a:t>
            </a:r>
            <a:r>
              <a:rPr lang="en-US" dirty="0"/>
              <a:t> и </a:t>
            </a:r>
            <a:r>
              <a:rPr lang="en-US" dirty="0" err="1"/>
              <a:t>авторизация</a:t>
            </a:r>
            <a:r>
              <a:rPr lang="en-US" dirty="0"/>
              <a:t> </a:t>
            </a:r>
            <a:r>
              <a:rPr lang="en-US" dirty="0" err="1"/>
              <a:t>пользователя</a:t>
            </a:r>
            <a:r>
              <a:rPr lang="en-US" dirty="0"/>
              <a:t>;</a:t>
            </a:r>
            <a:endParaRPr lang="ru-RU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dirty="0"/>
              <a:t>поддержка ролей администратора, букмекера и пользователя;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dirty="0"/>
              <a:t>создание, удаление и изменения регионов, чемпионатов и команд;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dirty="0"/>
              <a:t>создание и удаление матчей;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dirty="0"/>
              <a:t>изменение роли пользователя;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dirty="0"/>
              <a:t>возможность для букмекера добавлять исходы на матч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dirty="0"/>
              <a:t>возможность для букмекера изменять коэффициенты на матч;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dirty="0"/>
              <a:t>возможность для пользователя ставить на футбольные события;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dirty="0"/>
              <a:t>возможность для пользователя пополнять игровой счет и выводить средства;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dirty="0"/>
              <a:t>возможность для пользователя просматривать историю ставок;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dirty="0"/>
              <a:t>возможность для пользователя просматривать историю счета.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A13F02C5-D91C-41C8-A768-087FD6AD5394}"/>
              </a:ext>
            </a:extLst>
          </p:cNvPr>
          <p:cNvSpPr/>
          <p:nvPr/>
        </p:nvSpPr>
        <p:spPr>
          <a:xfrm rot="16200000">
            <a:off x="-1900974" y="3313251"/>
            <a:ext cx="4461521" cy="231496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A13F02C5-D91C-41C8-A768-087FD6AD5394}"/>
              </a:ext>
            </a:extLst>
          </p:cNvPr>
          <p:cNvSpPr/>
          <p:nvPr/>
        </p:nvSpPr>
        <p:spPr>
          <a:xfrm rot="16200000">
            <a:off x="9644733" y="3313252"/>
            <a:ext cx="4461521" cy="231496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490635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Рисунок 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644938" y="395626"/>
            <a:ext cx="348877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4000" b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Цели и задачи</a:t>
            </a:r>
            <a:endParaRPr lang="ru-BY" sz="40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200757" y="153865"/>
            <a:ext cx="11790485" cy="655026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/>
              </a:solidFill>
            </a:endParaRPr>
          </a:p>
        </p:txBody>
      </p:sp>
      <p:pic>
        <p:nvPicPr>
          <p:cNvPr id="7" name="Рисунок 6"/>
          <p:cNvPicPr/>
          <p:nvPr/>
        </p:nvPicPr>
        <p:blipFill>
          <a:blip r:embed="rId3"/>
          <a:stretch>
            <a:fillRect/>
          </a:stretch>
        </p:blipFill>
        <p:spPr>
          <a:xfrm>
            <a:off x="3449954" y="1357312"/>
            <a:ext cx="5103495" cy="4452938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9" name="Прямоугольник 8"/>
          <p:cNvSpPr/>
          <p:nvPr/>
        </p:nvSpPr>
        <p:spPr>
          <a:xfrm>
            <a:off x="539430" y="369249"/>
            <a:ext cx="6756978" cy="61555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400" b="1" dirty="0" smtClean="0">
                <a:latin typeface="+mj-lt"/>
                <a:cs typeface="Arial" panose="020B0604020202020204" pitchFamily="34" charset="0"/>
              </a:rPr>
              <a:t>Схема архитектуры веб-приложения</a:t>
            </a:r>
            <a:endParaRPr lang="ru-BY" sz="3400" b="1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A13F02C5-D91C-41C8-A768-087FD6AD5394}"/>
              </a:ext>
            </a:extLst>
          </p:cNvPr>
          <p:cNvSpPr/>
          <p:nvPr/>
        </p:nvSpPr>
        <p:spPr>
          <a:xfrm rot="16200000">
            <a:off x="9644734" y="3313250"/>
            <a:ext cx="4461521" cy="231496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A13F02C5-D91C-41C8-A768-087FD6AD5394}"/>
              </a:ext>
            </a:extLst>
          </p:cNvPr>
          <p:cNvSpPr/>
          <p:nvPr/>
        </p:nvSpPr>
        <p:spPr>
          <a:xfrm rot="16200000">
            <a:off x="-1900974" y="3313251"/>
            <a:ext cx="4461521" cy="231496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39506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644938" y="395626"/>
            <a:ext cx="348877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4000" b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Цели и задачи</a:t>
            </a:r>
            <a:endParaRPr lang="ru-BY" sz="40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200757" y="153865"/>
            <a:ext cx="11790485" cy="655026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/>
              </a:solidFill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539430" y="369249"/>
            <a:ext cx="4833374" cy="61555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400" b="1" dirty="0" smtClean="0">
                <a:latin typeface="+mj-lt"/>
                <a:cs typeface="Arial" panose="020B0604020202020204" pitchFamily="34" charset="0"/>
              </a:rPr>
              <a:t>Технологии и библиотеки</a:t>
            </a:r>
            <a:endParaRPr lang="ru-BY" sz="3400" b="1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A13F02C5-D91C-41C8-A768-087FD6AD5394}"/>
              </a:ext>
            </a:extLst>
          </p:cNvPr>
          <p:cNvSpPr/>
          <p:nvPr/>
        </p:nvSpPr>
        <p:spPr>
          <a:xfrm rot="16200000">
            <a:off x="9644734" y="3313250"/>
            <a:ext cx="4461521" cy="231496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A13F02C5-D91C-41C8-A768-087FD6AD5394}"/>
              </a:ext>
            </a:extLst>
          </p:cNvPr>
          <p:cNvSpPr/>
          <p:nvPr/>
        </p:nvSpPr>
        <p:spPr>
          <a:xfrm rot="16200000">
            <a:off x="-1900974" y="3313251"/>
            <a:ext cx="4461521" cy="231496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194" name="Picture 2" descr="https://miro.medium.com/max/2800/1*l4nfMFKxfT4yNTWUK2Vsdg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28908" y="2007812"/>
            <a:ext cx="2682134" cy="17242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6" name="Picture 4" descr="https://wsofter.com/wp-content/uploads/2022/05/net_core_logo.svg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6887" y="4383899"/>
            <a:ext cx="1378224" cy="1378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8" name="Picture 6" descr="https://stickykart.com/wp-content/uploads/2020/11/redux.png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24086" y="2055087"/>
            <a:ext cx="1497396" cy="1497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00" name="Picture 8" descr="https://images.saymedia-content.com/.image/t_share/MTc0NDczMTM4OTg0NDYxOTU4/a-brief-introduction-to-c.png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44039" y="4250421"/>
            <a:ext cx="1789675" cy="1789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02" name="Picture 10" descr="https://camo.githubusercontent.com/1676659c07ae4e01eb6bedbcd22383751cf59747b61ea44d82658c9e4bf090f8/68747470733a2f2f6769746c61622e636f6d2f75706c6f6164732f2d2f73797374656d2f67726f75702f6176617461722f31303732303235332f747970657363726970742e706e67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9867" y="2187371"/>
            <a:ext cx="1365113" cy="13651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04" name="Picture 12" descr="https://designlimbo.com/wp-content/uploads/2015/08/entity_image.png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21482" y="4256774"/>
            <a:ext cx="1573733" cy="15737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08" name="Picture 16" descr="http://pm1.narvii.com/8057/105bd02b10caccf9277fed5a88968c38e8213f83r1-2048-2048v2_uhq.jpg"/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11570" y="1305471"/>
            <a:ext cx="2951303" cy="2951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965302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Прямоугольник 11"/>
          <p:cNvSpPr/>
          <p:nvPr/>
        </p:nvSpPr>
        <p:spPr>
          <a:xfrm>
            <a:off x="644938" y="395626"/>
            <a:ext cx="348877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4000" b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Цели и задачи</a:t>
            </a:r>
            <a:endParaRPr lang="ru-BY" sz="40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106458" y="153863"/>
            <a:ext cx="11790485" cy="655026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/>
              </a:solidFill>
            </a:endParaRPr>
          </a:p>
        </p:txBody>
      </p:sp>
      <p:sp>
        <p:nvSpPr>
          <p:cNvPr id="15" name="Прямоугольник 14"/>
          <p:cNvSpPr/>
          <p:nvPr/>
        </p:nvSpPr>
        <p:spPr>
          <a:xfrm>
            <a:off x="539430" y="369249"/>
            <a:ext cx="10862269" cy="61555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400" b="1" dirty="0" smtClean="0">
                <a:latin typeface="+mj-lt"/>
                <a:cs typeface="Arial" panose="020B0604020202020204" pitchFamily="34" charset="0"/>
              </a:rPr>
              <a:t>Диаграмма вариантов </a:t>
            </a:r>
            <a:r>
              <a:rPr lang="ru-RU" sz="3400" b="1" dirty="0" smtClean="0">
                <a:latin typeface="+mj-lt"/>
                <a:cs typeface="Arial" panose="020B0604020202020204" pitchFamily="34" charset="0"/>
              </a:rPr>
              <a:t>использования</a:t>
            </a:r>
            <a:r>
              <a:rPr lang="en-US" sz="3400" b="1" dirty="0" smtClean="0">
                <a:latin typeface="+mj-lt"/>
                <a:cs typeface="Arial" panose="020B0604020202020204" pitchFamily="34" charset="0"/>
              </a:rPr>
              <a:t> </a:t>
            </a:r>
            <a:r>
              <a:rPr lang="ru-RU" sz="3400" b="1" dirty="0" smtClean="0">
                <a:latin typeface="+mj-lt"/>
                <a:cs typeface="Arial" panose="020B0604020202020204" pitchFamily="34" charset="0"/>
              </a:rPr>
              <a:t>для Администратора</a:t>
            </a:r>
            <a:endParaRPr lang="ru-BY" sz="3400" b="1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13F02C5-D91C-41C8-A768-087FD6AD5394}"/>
              </a:ext>
            </a:extLst>
          </p:cNvPr>
          <p:cNvSpPr/>
          <p:nvPr/>
        </p:nvSpPr>
        <p:spPr>
          <a:xfrm rot="16200000">
            <a:off x="9550435" y="3313248"/>
            <a:ext cx="4461521" cy="231496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A13F02C5-D91C-41C8-A768-087FD6AD5394}"/>
              </a:ext>
            </a:extLst>
          </p:cNvPr>
          <p:cNvSpPr/>
          <p:nvPr/>
        </p:nvSpPr>
        <p:spPr>
          <a:xfrm rot="16200000">
            <a:off x="-2008555" y="3313249"/>
            <a:ext cx="4461521" cy="231496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426" y="938448"/>
            <a:ext cx="5043374" cy="5750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61407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Рисунок 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Прямоугольник 10"/>
          <p:cNvSpPr/>
          <p:nvPr/>
        </p:nvSpPr>
        <p:spPr>
          <a:xfrm>
            <a:off x="644938" y="395626"/>
            <a:ext cx="348877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4000" b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Цели и задачи</a:t>
            </a:r>
            <a:endParaRPr lang="ru-BY" sz="40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06458" y="153863"/>
            <a:ext cx="11790485" cy="655026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/>
              </a:solidFill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539430" y="369249"/>
            <a:ext cx="9765815" cy="61555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400" b="1" dirty="0" smtClean="0">
                <a:latin typeface="+mj-lt"/>
                <a:cs typeface="Arial" panose="020B0604020202020204" pitchFamily="34" charset="0"/>
              </a:rPr>
              <a:t>Диаграмма вариантов </a:t>
            </a:r>
            <a:r>
              <a:rPr lang="ru-RU" sz="3400" b="1" dirty="0" smtClean="0">
                <a:latin typeface="+mj-lt"/>
                <a:cs typeface="Arial" panose="020B0604020202020204" pitchFamily="34" charset="0"/>
              </a:rPr>
              <a:t>использования</a:t>
            </a:r>
            <a:r>
              <a:rPr lang="en-US" sz="3400" b="1" dirty="0" smtClean="0">
                <a:latin typeface="+mj-lt"/>
                <a:cs typeface="Arial" panose="020B0604020202020204" pitchFamily="34" charset="0"/>
              </a:rPr>
              <a:t> </a:t>
            </a:r>
            <a:r>
              <a:rPr lang="ru-RU" sz="3400" b="1" dirty="0" smtClean="0">
                <a:latin typeface="+mj-lt"/>
                <a:cs typeface="Arial" panose="020B0604020202020204" pitchFamily="34" charset="0"/>
              </a:rPr>
              <a:t>для Букмекера</a:t>
            </a:r>
            <a:endParaRPr lang="ru-BY" sz="3400" b="1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A13F02C5-D91C-41C8-A768-087FD6AD5394}"/>
              </a:ext>
            </a:extLst>
          </p:cNvPr>
          <p:cNvSpPr/>
          <p:nvPr/>
        </p:nvSpPr>
        <p:spPr>
          <a:xfrm rot="16200000">
            <a:off x="9550435" y="3313248"/>
            <a:ext cx="4461521" cy="231496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A13F02C5-D91C-41C8-A768-087FD6AD5394}"/>
              </a:ext>
            </a:extLst>
          </p:cNvPr>
          <p:cNvSpPr/>
          <p:nvPr/>
        </p:nvSpPr>
        <p:spPr>
          <a:xfrm rot="16200000">
            <a:off x="-2008555" y="3313249"/>
            <a:ext cx="4461521" cy="231496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5661" y="1198235"/>
            <a:ext cx="7451996" cy="52049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8173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11" name="Объект 10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75918" y="1825625"/>
            <a:ext cx="5412663" cy="4866020"/>
          </a:xfr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644938" y="395626"/>
            <a:ext cx="348877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4000" b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Цели и задачи</a:t>
            </a:r>
            <a:endParaRPr lang="ru-BY" sz="40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106458" y="153863"/>
            <a:ext cx="11790485" cy="655026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/>
              </a:solidFill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276906" y="370032"/>
            <a:ext cx="11703845" cy="61555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400" b="1" dirty="0" smtClean="0">
                <a:latin typeface="+mj-lt"/>
                <a:cs typeface="Arial" panose="020B0604020202020204" pitchFamily="34" charset="0"/>
              </a:rPr>
              <a:t>Диаграмма вариантов </a:t>
            </a:r>
            <a:r>
              <a:rPr lang="ru-RU" sz="3400" b="1" dirty="0" smtClean="0">
                <a:latin typeface="+mj-lt"/>
                <a:cs typeface="Arial" panose="020B0604020202020204" pitchFamily="34" charset="0"/>
              </a:rPr>
              <a:t>использования</a:t>
            </a:r>
            <a:r>
              <a:rPr lang="en-US" sz="3400" b="1" dirty="0" smtClean="0">
                <a:latin typeface="+mj-lt"/>
                <a:cs typeface="Arial" panose="020B0604020202020204" pitchFamily="34" charset="0"/>
              </a:rPr>
              <a:t> </a:t>
            </a:r>
            <a:r>
              <a:rPr lang="ru-RU" sz="3400" b="1" dirty="0" smtClean="0">
                <a:latin typeface="+mj-lt"/>
                <a:cs typeface="Arial" panose="020B0604020202020204" pitchFamily="34" charset="0"/>
              </a:rPr>
              <a:t>для Гостя и Пользователя</a:t>
            </a:r>
            <a:endParaRPr lang="ru-BY" sz="3400" b="1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A13F02C5-D91C-41C8-A768-087FD6AD5394}"/>
              </a:ext>
            </a:extLst>
          </p:cNvPr>
          <p:cNvSpPr/>
          <p:nvPr/>
        </p:nvSpPr>
        <p:spPr>
          <a:xfrm rot="16200000">
            <a:off x="9550435" y="3313248"/>
            <a:ext cx="4461521" cy="231496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A13F02C5-D91C-41C8-A768-087FD6AD5394}"/>
              </a:ext>
            </a:extLst>
          </p:cNvPr>
          <p:cNvSpPr/>
          <p:nvPr/>
        </p:nvSpPr>
        <p:spPr>
          <a:xfrm rot="16200000">
            <a:off x="-2008555" y="3313249"/>
            <a:ext cx="4461521" cy="231496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1777" y="883294"/>
            <a:ext cx="6759846" cy="5747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44190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644938" y="395626"/>
            <a:ext cx="348877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4000" b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Цели и задачи</a:t>
            </a:r>
            <a:endParaRPr lang="ru-BY" sz="40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106458" y="153863"/>
            <a:ext cx="11790485" cy="655026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/>
              </a:solidFill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539430" y="369249"/>
            <a:ext cx="5787162" cy="61555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400" b="1" dirty="0" smtClean="0">
                <a:latin typeface="+mj-lt"/>
                <a:cs typeface="Arial" panose="020B0604020202020204" pitchFamily="34" charset="0"/>
              </a:rPr>
              <a:t>Логическая схема базы данных</a:t>
            </a:r>
            <a:endParaRPr lang="ru-BY" sz="3400" b="1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A13F02C5-D91C-41C8-A768-087FD6AD5394}"/>
              </a:ext>
            </a:extLst>
          </p:cNvPr>
          <p:cNvSpPr/>
          <p:nvPr/>
        </p:nvSpPr>
        <p:spPr>
          <a:xfrm rot="16200000">
            <a:off x="9550435" y="3313248"/>
            <a:ext cx="4461521" cy="231496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A13F02C5-D91C-41C8-A768-087FD6AD5394}"/>
              </a:ext>
            </a:extLst>
          </p:cNvPr>
          <p:cNvSpPr/>
          <p:nvPr/>
        </p:nvSpPr>
        <p:spPr>
          <a:xfrm rot="16200000">
            <a:off x="-2008555" y="3313249"/>
            <a:ext cx="4461521" cy="231496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1427" y="1103512"/>
            <a:ext cx="8860546" cy="5421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04866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Прямоугольник 11"/>
          <p:cNvSpPr/>
          <p:nvPr/>
        </p:nvSpPr>
        <p:spPr>
          <a:xfrm>
            <a:off x="644938" y="395626"/>
            <a:ext cx="348877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4000" b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Цели и задачи</a:t>
            </a:r>
            <a:endParaRPr lang="ru-BY" sz="40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106458" y="153863"/>
            <a:ext cx="11790485" cy="655026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/>
              </a:solidFill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539430" y="369249"/>
            <a:ext cx="5237331" cy="61555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400" b="1" dirty="0" smtClean="0">
                <a:latin typeface="+mj-lt"/>
                <a:cs typeface="Arial" panose="020B0604020202020204" pitchFamily="34" charset="0"/>
              </a:rPr>
              <a:t>Блок схема принятия ставки</a:t>
            </a:r>
            <a:endParaRPr lang="ru-BY" sz="3400" b="1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A13F02C5-D91C-41C8-A768-087FD6AD5394}"/>
              </a:ext>
            </a:extLst>
          </p:cNvPr>
          <p:cNvSpPr/>
          <p:nvPr/>
        </p:nvSpPr>
        <p:spPr>
          <a:xfrm rot="16200000">
            <a:off x="9550435" y="3313248"/>
            <a:ext cx="4461521" cy="231496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13F02C5-D91C-41C8-A768-087FD6AD5394}"/>
              </a:ext>
            </a:extLst>
          </p:cNvPr>
          <p:cNvSpPr/>
          <p:nvPr/>
        </p:nvSpPr>
        <p:spPr>
          <a:xfrm rot="16200000">
            <a:off x="-2008555" y="3313249"/>
            <a:ext cx="4461521" cy="231496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9" name="Рисунок 1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2524" y="1257375"/>
            <a:ext cx="9540235" cy="479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87666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644938" y="395626"/>
            <a:ext cx="348877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4000" b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Цели и задачи</a:t>
            </a:r>
            <a:endParaRPr lang="ru-BY" sz="40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106458" y="153863"/>
            <a:ext cx="11790485" cy="655026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/>
              </a:solidFill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539430" y="369249"/>
            <a:ext cx="4350871" cy="61555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400" b="1" dirty="0" smtClean="0">
                <a:latin typeface="+mj-lt"/>
                <a:cs typeface="Arial" panose="020B0604020202020204" pitchFamily="34" charset="0"/>
              </a:rPr>
              <a:t>Демонстрация проекта</a:t>
            </a:r>
            <a:endParaRPr lang="ru-BY" sz="3400" b="1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A13F02C5-D91C-41C8-A768-087FD6AD5394}"/>
              </a:ext>
            </a:extLst>
          </p:cNvPr>
          <p:cNvSpPr/>
          <p:nvPr/>
        </p:nvSpPr>
        <p:spPr>
          <a:xfrm rot="16200000">
            <a:off x="9550435" y="3313248"/>
            <a:ext cx="4461521" cy="231496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A13F02C5-D91C-41C8-A768-087FD6AD5394}"/>
              </a:ext>
            </a:extLst>
          </p:cNvPr>
          <p:cNvSpPr/>
          <p:nvPr/>
        </p:nvSpPr>
        <p:spPr>
          <a:xfrm rot="16200000">
            <a:off x="-2008555" y="3313249"/>
            <a:ext cx="4461521" cy="231496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71042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644938" y="395626"/>
            <a:ext cx="348877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4000" b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Цели и задачи</a:t>
            </a:r>
            <a:endParaRPr lang="ru-BY" sz="40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106458" y="153863"/>
            <a:ext cx="11790485" cy="655026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/>
              </a:solidFill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539430" y="369249"/>
            <a:ext cx="6882012" cy="61555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400" b="1" dirty="0" smtClean="0">
                <a:latin typeface="+mj-lt"/>
                <a:cs typeface="Arial" panose="020B0604020202020204" pitchFamily="34" charset="0"/>
              </a:rPr>
              <a:t>Таблица экономических показателей</a:t>
            </a:r>
            <a:endParaRPr lang="ru-BY" sz="3400" b="1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A13F02C5-D91C-41C8-A768-087FD6AD5394}"/>
              </a:ext>
            </a:extLst>
          </p:cNvPr>
          <p:cNvSpPr/>
          <p:nvPr/>
        </p:nvSpPr>
        <p:spPr>
          <a:xfrm rot="16200000">
            <a:off x="9550435" y="3313248"/>
            <a:ext cx="4461521" cy="231496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A13F02C5-D91C-41C8-A768-087FD6AD5394}"/>
              </a:ext>
            </a:extLst>
          </p:cNvPr>
          <p:cNvSpPr/>
          <p:nvPr/>
        </p:nvSpPr>
        <p:spPr>
          <a:xfrm rot="16200000">
            <a:off x="-2008555" y="3313249"/>
            <a:ext cx="4461521" cy="231496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aphicFrame>
        <p:nvGraphicFramePr>
          <p:cNvPr id="11" name="Таблица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7681964"/>
              </p:ext>
            </p:extLst>
          </p:nvPr>
        </p:nvGraphicFramePr>
        <p:xfrm>
          <a:off x="2105025" y="1257375"/>
          <a:ext cx="7981950" cy="465962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282452">
                  <a:extLst>
                    <a:ext uri="{9D8B030D-6E8A-4147-A177-3AD203B41FA5}">
                      <a16:colId xmlns:a16="http://schemas.microsoft.com/office/drawing/2014/main" val="557272881"/>
                    </a:ext>
                  </a:extLst>
                </a:gridCol>
                <a:gridCol w="2699498">
                  <a:extLst>
                    <a:ext uri="{9D8B030D-6E8A-4147-A177-3AD203B41FA5}">
                      <a16:colId xmlns:a16="http://schemas.microsoft.com/office/drawing/2014/main" val="1521903410"/>
                    </a:ext>
                  </a:extLst>
                </a:gridCol>
              </a:tblGrid>
              <a:tr h="331734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81660" algn="l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ru-RU" sz="1400">
                          <a:effectLst/>
                        </a:rPr>
                        <a:t>Наименование показателя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81660" algn="l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ru-RU" sz="1400">
                          <a:effectLst/>
                        </a:rPr>
                        <a:t>Значение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12660445"/>
                  </a:ext>
                </a:extLst>
              </a:tr>
              <a:tr h="331734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81660" algn="l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ru-RU" sz="1400">
                          <a:effectLst/>
                        </a:rPr>
                        <a:t>Время разработки, ч.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81660" algn="l"/>
                          <a:tab pos="685800" algn="l"/>
                          <a:tab pos="1036320" algn="ctr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ru-RU" sz="1400">
                          <a:effectLst/>
                        </a:rPr>
                        <a:t>393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137291574"/>
                  </a:ext>
                </a:extLst>
              </a:tr>
              <a:tr h="331734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81660" algn="l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ru-RU" sz="1400">
                          <a:effectLst/>
                        </a:rPr>
                        <a:t>Количество разработчиков, чел.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81660" algn="l"/>
                          <a:tab pos="685800" algn="l"/>
                          <a:tab pos="1036320" algn="ctr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ru-RU" sz="1400">
                          <a:effectLst/>
                        </a:rPr>
                        <a:t>1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660128973"/>
                  </a:ext>
                </a:extLst>
              </a:tr>
              <a:tr h="331734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81660" algn="l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ru-RU" sz="1400">
                          <a:effectLst/>
                        </a:rPr>
                        <a:t>Основная заработная плата, руб.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81660" algn="l"/>
                          <a:tab pos="685800" algn="l"/>
                          <a:tab pos="1036320" algn="ctr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ru-RU" sz="1400">
                          <a:effectLst/>
                        </a:rPr>
                        <a:t>3898,56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743914167"/>
                  </a:ext>
                </a:extLst>
              </a:tr>
              <a:tr h="331734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81660" algn="l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ru-RU" sz="1400">
                          <a:effectLst/>
                        </a:rPr>
                        <a:t>Дополнительная заработная плата, руб.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81660" algn="l"/>
                          <a:tab pos="685800" algn="l"/>
                          <a:tab pos="1036320" algn="ctr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ru-RU" sz="1400">
                          <a:effectLst/>
                        </a:rPr>
                        <a:t>584,78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952131517"/>
                  </a:ext>
                </a:extLst>
              </a:tr>
              <a:tr h="678821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81660" algn="l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ru-RU" sz="1400">
                          <a:effectLst/>
                        </a:rPr>
                        <a:t>Отчисления в Фонд социальной защиты населения и БРУСП «Белгосстрах», %, руб.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81660" algn="l"/>
                          <a:tab pos="685800" algn="l"/>
                          <a:tab pos="1036320" algn="ctr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ru-RU" sz="1400">
                          <a:effectLst/>
                        </a:rPr>
                        <a:t>1524,34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548736952"/>
                  </a:ext>
                </a:extLst>
              </a:tr>
              <a:tr h="331734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81660" algn="l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ru-RU" sz="1400">
                          <a:effectLst/>
                        </a:rPr>
                        <a:t>Отчисления в БРУСП «Белгосстрах», руб.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81660" algn="l"/>
                          <a:tab pos="685800" algn="l"/>
                          <a:tab pos="1036320" algn="ctr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ru-RU" sz="1400">
                          <a:effectLst/>
                        </a:rPr>
                        <a:t>26,90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351858895"/>
                  </a:ext>
                </a:extLst>
              </a:tr>
              <a:tr h="331734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81660" algn="l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ru-RU" sz="1400">
                          <a:effectLst/>
                        </a:rPr>
                        <a:t>Прочие прямые затраты, руб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81660" algn="l"/>
                          <a:tab pos="685800" algn="l"/>
                          <a:tab pos="1036320" algn="ctr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ru-RU" sz="1400">
                          <a:effectLst/>
                        </a:rPr>
                        <a:t>805,20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704380069"/>
                  </a:ext>
                </a:extLst>
              </a:tr>
              <a:tr h="331734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81660" algn="l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ru-RU" sz="1400">
                          <a:effectLst/>
                        </a:rPr>
                        <a:t>Накладные расходы, руб.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81660" algn="l"/>
                          <a:tab pos="685800" algn="l"/>
                          <a:tab pos="1036320" algn="ctr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ru-RU" sz="1400">
                          <a:effectLst/>
                        </a:rPr>
                        <a:t>1949,28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457110695"/>
                  </a:ext>
                </a:extLst>
              </a:tr>
              <a:tr h="331734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81660" algn="l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ru-RU" sz="1400">
                          <a:effectLst/>
                        </a:rPr>
                        <a:t>Полная себестоимость, руб.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81660" algn="l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ru-RU" sz="1400">
                          <a:effectLst/>
                        </a:rPr>
                        <a:t>8789,06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547640697"/>
                  </a:ext>
                </a:extLst>
              </a:tr>
              <a:tr h="331734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</a:rPr>
                        <a:t>Чистая прибыль, руб.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</a:rPr>
                        <a:t>2636,72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327200857"/>
                  </a:ext>
                </a:extLst>
              </a:tr>
              <a:tr h="33173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81660" algn="l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ru-RU" sz="1400">
                          <a:effectLst/>
                        </a:rPr>
                        <a:t>Уровень рентабельности, </a:t>
                      </a:r>
                      <a:r>
                        <a:rPr lang="en-US" sz="1400">
                          <a:effectLst/>
                        </a:rPr>
                        <a:t>%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</a:rPr>
                        <a:t>30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644279983"/>
                  </a:ext>
                </a:extLst>
              </a:tr>
              <a:tr h="33173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81660" algn="l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ru-RU" sz="1400">
                          <a:effectLst/>
                        </a:rPr>
                        <a:t>Цена реализации, руб.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</a:rPr>
                        <a:t>11425,78</a:t>
                      </a:r>
                      <a:endParaRPr lang="ru-RU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9553384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663672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644938" y="395626"/>
            <a:ext cx="348877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4000" b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Цели и задачи</a:t>
            </a:r>
            <a:endParaRPr lang="ru-BY" sz="40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106458" y="153863"/>
            <a:ext cx="11790485" cy="655026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/>
              </a:solidFill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539430" y="369249"/>
            <a:ext cx="2366353" cy="61555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400" b="1" dirty="0" smtClean="0">
                <a:latin typeface="+mj-lt"/>
                <a:cs typeface="Arial" panose="020B0604020202020204" pitchFamily="34" charset="0"/>
              </a:rPr>
              <a:t>Заключение</a:t>
            </a:r>
            <a:endParaRPr lang="ru-BY" sz="3400" b="1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A13F02C5-D91C-41C8-A768-087FD6AD5394}"/>
              </a:ext>
            </a:extLst>
          </p:cNvPr>
          <p:cNvSpPr/>
          <p:nvPr/>
        </p:nvSpPr>
        <p:spPr>
          <a:xfrm rot="16200000">
            <a:off x="9550435" y="3313248"/>
            <a:ext cx="4461521" cy="231496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A13F02C5-D91C-41C8-A768-087FD6AD5394}"/>
              </a:ext>
            </a:extLst>
          </p:cNvPr>
          <p:cNvSpPr/>
          <p:nvPr/>
        </p:nvSpPr>
        <p:spPr>
          <a:xfrm rot="16200000">
            <a:off x="-2008555" y="3313249"/>
            <a:ext cx="4461521" cy="231496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/>
          <p:cNvSpPr/>
          <p:nvPr/>
        </p:nvSpPr>
        <p:spPr>
          <a:xfrm>
            <a:off x="1943100" y="1257375"/>
            <a:ext cx="8561417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 smtClean="0">
                <a:ea typeface="Lato" panose="020F0502020204030203" pitchFamily="34" charset="0"/>
                <a:cs typeface="Lato" panose="020F0502020204030203" pitchFamily="34" charset="0"/>
              </a:rPr>
              <a:t>Для достижения поставленных целей были проделаны следующие действия: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dirty="0" smtClean="0">
                <a:ea typeface="Lato" panose="020F0502020204030203" pitchFamily="34" charset="0"/>
                <a:cs typeface="Lato" panose="020F0502020204030203" pitchFamily="34" charset="0"/>
              </a:rPr>
              <a:t>произведен обзор и анализ аналогов;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dirty="0" smtClean="0">
                <a:ea typeface="Lato" panose="020F0502020204030203" pitchFamily="34" charset="0"/>
                <a:cs typeface="Lato" panose="020F0502020204030203" pitchFamily="34" charset="0"/>
              </a:rPr>
              <a:t>подобраны нужные технологии и инструменты;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dirty="0" smtClean="0">
                <a:ea typeface="Lato" panose="020F0502020204030203" pitchFamily="34" charset="0"/>
                <a:cs typeface="Lato" panose="020F0502020204030203" pitchFamily="34" charset="0"/>
              </a:rPr>
              <a:t>спроектированы схемы архитектуры приложения, базы данных и диаграмма вариантов использования;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dirty="0" smtClean="0">
                <a:ea typeface="Lato" panose="020F0502020204030203" pitchFamily="34" charset="0"/>
                <a:cs typeface="Lato" panose="020F0502020204030203" pitchFamily="34" charset="0"/>
              </a:rPr>
              <a:t>разработана клиентская и серверная части приложения</a:t>
            </a:r>
            <a:r>
              <a:rPr lang="en-US" dirty="0" smtClean="0">
                <a:latin typeface="Lato" panose="020F0502020204030203"/>
                <a:ea typeface="Lato" panose="020F0502020204030203" pitchFamily="34" charset="0"/>
                <a:cs typeface="Lato" panose="020F0502020204030203" pitchFamily="34" charset="0"/>
              </a:rPr>
              <a:t>;</a:t>
            </a:r>
            <a:endParaRPr lang="ru-RU" dirty="0" smtClean="0"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dirty="0" smtClean="0">
                <a:ea typeface="Lato" panose="020F0502020204030203" pitchFamily="34" charset="0"/>
                <a:cs typeface="Lato" panose="020F0502020204030203" pitchFamily="34" charset="0"/>
              </a:rPr>
              <a:t>протестированы все функции приложения;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dirty="0" smtClean="0">
                <a:ea typeface="Lato" panose="020F0502020204030203" pitchFamily="34" charset="0"/>
                <a:cs typeface="Lato" panose="020F0502020204030203" pitchFamily="34" charset="0"/>
              </a:rPr>
              <a:t>написано руководство пользователя</a:t>
            </a:r>
            <a:r>
              <a:rPr lang="en-US" dirty="0" smtClean="0">
                <a:latin typeface="Lato" panose="020F0502020204030203"/>
                <a:ea typeface="Lato" panose="020F0502020204030203" pitchFamily="34" charset="0"/>
                <a:cs typeface="Lato" panose="020F0502020204030203" pitchFamily="34" charset="0"/>
              </a:rPr>
              <a:t>;</a:t>
            </a:r>
            <a:endParaRPr lang="ru-RU" dirty="0" smtClean="0"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dirty="0" smtClean="0">
                <a:ea typeface="Lato" panose="020F0502020204030203" pitchFamily="34" charset="0"/>
                <a:cs typeface="Lato" panose="020F0502020204030203" pitchFamily="34" charset="0"/>
              </a:rPr>
              <a:t>рассчитаны экономические показатели проекта.</a:t>
            </a:r>
            <a:endParaRPr lang="ru-RU" dirty="0"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1232683" y="4185478"/>
            <a:ext cx="9769531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В ходе выполнения дипломного проекта </a:t>
            </a:r>
            <a:r>
              <a:rPr lang="ru-RU" sz="2000" dirty="0"/>
              <a:t>была полностью достигнута поставленная цель по разработке программного средства и создан проект для ставок на футбольные события. Были учтены все требования, а задачи дипломного проекта выполнены в полном объеме.</a:t>
            </a:r>
            <a:endParaRPr lang="ru-RU" sz="2000" dirty="0" smtClean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67497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4826"/>
            <a:ext cx="12192000" cy="6872825"/>
          </a:xfrm>
          <a:prstGeom prst="rect">
            <a:avLst/>
          </a:prstGeom>
        </p:spPr>
      </p:pic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3A24C834-B741-4195-B095-CF0589AF7461}"/>
              </a:ext>
            </a:extLst>
          </p:cNvPr>
          <p:cNvSpPr/>
          <p:nvPr/>
        </p:nvSpPr>
        <p:spPr>
          <a:xfrm>
            <a:off x="-1" y="-14826"/>
            <a:ext cx="12192000" cy="2176896"/>
          </a:xfrm>
          <a:prstGeom prst="rect">
            <a:avLst/>
          </a:prstGeom>
          <a:solidFill>
            <a:srgbClr val="607090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3A24C834-B741-4195-B095-CF0589AF7461}"/>
              </a:ext>
            </a:extLst>
          </p:cNvPr>
          <p:cNvSpPr/>
          <p:nvPr/>
        </p:nvSpPr>
        <p:spPr>
          <a:xfrm>
            <a:off x="0" y="4979872"/>
            <a:ext cx="12192000" cy="1878127"/>
          </a:xfrm>
          <a:prstGeom prst="rect">
            <a:avLst/>
          </a:prstGeom>
          <a:solidFill>
            <a:srgbClr val="607090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3A24C834-B741-4195-B095-CF0589AF7461}"/>
              </a:ext>
            </a:extLst>
          </p:cNvPr>
          <p:cNvSpPr/>
          <p:nvPr/>
        </p:nvSpPr>
        <p:spPr>
          <a:xfrm>
            <a:off x="0" y="2164080"/>
            <a:ext cx="12192000" cy="2819400"/>
          </a:xfrm>
          <a:prstGeom prst="rect">
            <a:avLst/>
          </a:prstGeom>
          <a:solidFill>
            <a:srgbClr val="607090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Заголовок 1"/>
          <p:cNvSpPr txBox="1">
            <a:spLocks/>
          </p:cNvSpPr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mtClean="0"/>
              <a:t/>
            </a:r>
            <a:br>
              <a:rPr lang="ru-RU" smtClean="0"/>
            </a:br>
            <a:r>
              <a:rPr lang="ru-RU" smtClean="0"/>
              <a:t> </a:t>
            </a:r>
            <a:endParaRPr lang="ru-RU" dirty="0"/>
          </a:p>
        </p:txBody>
      </p:sp>
      <p:sp>
        <p:nvSpPr>
          <p:cNvPr id="17" name="TextBox 16"/>
          <p:cNvSpPr txBox="1"/>
          <p:nvPr/>
        </p:nvSpPr>
        <p:spPr>
          <a:xfrm flipH="1">
            <a:off x="0" y="149824"/>
            <a:ext cx="12192001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МИНИСТЕРСТВО ОБРАЗОВАНИЯ РЕСПУБЛИКИ БЕЛАРУСЬ</a:t>
            </a:r>
          </a:p>
          <a:p>
            <a:pPr algn="ctr"/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Учреждения образования  </a:t>
            </a:r>
          </a:p>
          <a:p>
            <a:pPr algn="ctr"/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«БЕЛОРУССКИЙ ГОСУДАРСТВЕННЫЙ ТЕХНОЛОГИЧЕСКИЙ УНИВЕРСИТЕТ»</a:t>
            </a:r>
          </a:p>
          <a:p>
            <a:pPr algn="ctr"/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  <a:b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</a:br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Факультет информационных технологий</a:t>
            </a:r>
            <a:b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</a:br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Кафедра информационных систем и технологий</a:t>
            </a:r>
          </a:p>
          <a:p>
            <a:pPr algn="ctr"/>
            <a:r>
              <a:rPr lang="ru-RU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Специальность 1-</a:t>
            </a:r>
            <a:r>
              <a:rPr lang="en-US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40</a:t>
            </a:r>
            <a:r>
              <a:rPr lang="ru-RU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0</a:t>
            </a:r>
            <a:r>
              <a:rPr lang="en-US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5</a:t>
            </a:r>
            <a:r>
              <a:rPr lang="ru-RU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0</a:t>
            </a:r>
            <a:r>
              <a:rPr lang="en-US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1</a:t>
            </a:r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 </a:t>
            </a:r>
            <a:r>
              <a:rPr lang="ru-RU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«</a:t>
            </a:r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Информационные системы и технологии</a:t>
            </a:r>
            <a:r>
              <a:rPr lang="ru-RU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»</a:t>
            </a:r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  <a:b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</a:br>
            <a:endParaRPr lang="ru-RU" sz="1600" dirty="0">
              <a:solidFill>
                <a:schemeClr val="bg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 flipH="1">
            <a:off x="2" y="2390324"/>
            <a:ext cx="121919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000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Дипломн</a:t>
            </a:r>
            <a:r>
              <a:rPr lang="ru-RU" sz="4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ы</a:t>
            </a:r>
            <a:r>
              <a:rPr lang="ru-RU" sz="4000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й</a:t>
            </a:r>
            <a:r>
              <a:rPr lang="ru-RU" sz="4000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itchFamily="2" charset="-52"/>
              </a:rPr>
              <a:t> </a:t>
            </a:r>
            <a:r>
              <a:rPr lang="ru-RU" sz="4000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проект</a:t>
            </a:r>
            <a:endParaRPr lang="ru-RU" sz="40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 flipH="1">
            <a:off x="134811" y="3207729"/>
            <a:ext cx="121920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Веб-приложение</a:t>
            </a:r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</a:rPr>
              <a:t> </a:t>
            </a:r>
            <a:r>
              <a:rPr lang="ru-RU" sz="2800" dirty="0" smtClean="0">
                <a:solidFill>
                  <a:schemeClr val="bg1"/>
                </a:solidFill>
                <a:latin typeface="Times New Roman" panose="02020603050405020304" pitchFamily="18" charset="0"/>
              </a:rPr>
              <a:t>для букмекерских ставок на футбольные события</a:t>
            </a:r>
            <a:endParaRPr lang="ru-RU" sz="2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Прямоугольник 19"/>
          <p:cNvSpPr/>
          <p:nvPr/>
        </p:nvSpPr>
        <p:spPr>
          <a:xfrm>
            <a:off x="430823" y="5439989"/>
            <a:ext cx="8334102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Дипломник: </a:t>
            </a:r>
            <a:r>
              <a:rPr lang="ru-RU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Гой Максим Антонович</a:t>
            </a:r>
            <a:endParaRPr lang="ru-RU" sz="1600" dirty="0">
              <a:solidFill>
                <a:schemeClr val="bg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r>
              <a:rPr lang="ru-RU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Руководитель: </a:t>
            </a:r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преподаватель-стажёр </a:t>
            </a:r>
            <a:r>
              <a:rPr lang="ru-RU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Комарова Елизавета Ивановна</a:t>
            </a:r>
          </a:p>
        </p:txBody>
      </p:sp>
      <p:sp>
        <p:nvSpPr>
          <p:cNvPr id="21" name="Прямоугольник 20"/>
          <p:cNvSpPr/>
          <p:nvPr/>
        </p:nvSpPr>
        <p:spPr>
          <a:xfrm>
            <a:off x="5382501" y="6444734"/>
            <a:ext cx="122341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Минск </a:t>
            </a:r>
            <a:r>
              <a:rPr lang="ru-RU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2023</a:t>
            </a:r>
            <a:endParaRPr lang="ru-RU" sz="1600" dirty="0">
              <a:solidFill>
                <a:schemeClr val="bg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004936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156</TotalTime>
  <Words>408</Words>
  <Application>Microsoft Office PowerPoint</Application>
  <PresentationFormat>Широкоэкранный</PresentationFormat>
  <Paragraphs>94</Paragraphs>
  <Slides>14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21" baseType="lpstr">
      <vt:lpstr>Arial</vt:lpstr>
      <vt:lpstr>Calibri</vt:lpstr>
      <vt:lpstr>Calibri Light</vt:lpstr>
      <vt:lpstr>Lato</vt:lpstr>
      <vt:lpstr>Montserrat</vt:lpstr>
      <vt:lpstr>Times New Roman</vt:lpstr>
      <vt:lpstr>Тема Office</vt:lpstr>
      <vt:lpstr>  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Goy Maxim</dc:creator>
  <cp:lastModifiedBy>Asus</cp:lastModifiedBy>
  <cp:revision>11</cp:revision>
  <dcterms:created xsi:type="dcterms:W3CDTF">2023-06-06T14:36:48Z</dcterms:created>
  <dcterms:modified xsi:type="dcterms:W3CDTF">2023-06-07T06:28:51Z</dcterms:modified>
</cp:coreProperties>
</file>