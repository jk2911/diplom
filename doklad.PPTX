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2" r:id="rId3"/>
    <p:sldId id="257" r:id="rId4"/>
    <p:sldId id="258" r:id="rId5"/>
    <p:sldId id="273" r:id="rId6"/>
    <p:sldId id="266" r:id="rId7"/>
    <p:sldId id="267" r:id="rId8"/>
    <p:sldId id="268" r:id="rId9"/>
    <p:sldId id="269" r:id="rId10"/>
    <p:sldId id="270" r:id="rId11"/>
    <p:sldId id="271" r:id="rId12"/>
    <p:sldId id="265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68FA1-4469-472D-AB3D-AC1E3E35D628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B26979-5C81-4CB4-82ED-647B64279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510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B26979-5C81-4CB4-82ED-647B642791C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81529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B26979-5C81-4CB4-82ED-647B642791C0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320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315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2176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88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528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967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054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5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696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90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304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71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826"/>
            <a:ext cx="12192000" cy="6872825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-1" y="-14826"/>
            <a:ext cx="12192000" cy="2176896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4979872"/>
            <a:ext cx="12192000" cy="1878127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2164080"/>
            <a:ext cx="12192000" cy="2819400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0" y="149824"/>
            <a:ext cx="1219200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Учреждения образования  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«БЕЛОРУССКИЙ ГОСУДАРСТВЕННЫЙ ТЕХНОЛОГИЧЕСКИЙ УНИВЕРСИТЕТ»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Факультет информационных технологий</a:t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Кафедра информационных систем и технологий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Специальность 1-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40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Информационные системы и технологии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»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flipH="1">
            <a:off x="2" y="2390324"/>
            <a:ext cx="12191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</a:t>
            </a:r>
            <a:r>
              <a:rPr lang="ru-RU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й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-52"/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 flipH="1">
            <a:off x="134811" y="3207729"/>
            <a:ext cx="12192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</a:rPr>
              <a:t>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</a:rPr>
              <a:t>для букмекерских ставок на футбольные события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30823" y="5439989"/>
            <a:ext cx="83341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Дипломник: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Гой Максим Антонович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Руководитель: 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преподаватель-стажёр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Комарова Елизавета Ивановна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5382501" y="6444734"/>
            <a:ext cx="12234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Минск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2023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20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39430" y="369249"/>
            <a:ext cx="1664238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Аналоги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3" y="3313252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>
            <a:fillRect/>
          </a:stretch>
        </p:blipFill>
        <p:spPr>
          <a:xfrm>
            <a:off x="1007745" y="1277939"/>
            <a:ext cx="4824681" cy="2322512"/>
          </a:xfrm>
          <a:prstGeom prst="rect">
            <a:avLst/>
          </a:prstGeom>
        </p:spPr>
      </p:pic>
      <p:pic>
        <p:nvPicPr>
          <p:cNvPr id="14" name="Рисунок 13"/>
          <p:cNvPicPr/>
          <p:nvPr/>
        </p:nvPicPr>
        <p:blipFill>
          <a:blip r:embed="rId4"/>
          <a:stretch>
            <a:fillRect/>
          </a:stretch>
        </p:blipFill>
        <p:spPr>
          <a:xfrm>
            <a:off x="6372854" y="1872061"/>
            <a:ext cx="5124417" cy="25233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Рисунок 14"/>
          <p:cNvPicPr/>
          <p:nvPr/>
        </p:nvPicPr>
        <p:blipFill>
          <a:blip r:embed="rId5"/>
          <a:stretch>
            <a:fillRect/>
          </a:stretch>
        </p:blipFill>
        <p:spPr>
          <a:xfrm>
            <a:off x="1279770" y="3914837"/>
            <a:ext cx="4816229" cy="24749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2945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39430" y="369249"/>
            <a:ext cx="2768707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Цели и задачи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28" name="Picture 4" descr="https://top-fon.com/uploads/posts/2023-02/1675217466_top-fon-com-p-fon-dlya-prezentatsii-tsel-126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30" y="1215575"/>
            <a:ext cx="2671833" cy="200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ttps://top-fon.com/uploads/posts/2023-02/1675217541_top-fon-com-p-fon-dlya-prezentatsii-tsel-161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619" y="3737828"/>
            <a:ext cx="2741657" cy="202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3549936" y="2048560"/>
            <a:ext cx="79181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Цель дипломного проекта: </a:t>
            </a:r>
            <a:r>
              <a:rPr lang="ru-RU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разработать веб-приложение </a:t>
            </a:r>
            <a:r>
              <a:rPr lang="ru-RU" dirty="0" smtClean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для букмекерских ставок на футбольные события. </a:t>
            </a:r>
            <a:endParaRPr lang="ru-RU" sz="16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646292" y="3059470"/>
            <a:ext cx="8334102" cy="3385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Функционально должны быть выполнены следующие задачи: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регистрация</a:t>
            </a:r>
            <a:r>
              <a:rPr lang="en-US" dirty="0"/>
              <a:t> и </a:t>
            </a:r>
            <a:r>
              <a:rPr lang="en-US" dirty="0" err="1"/>
              <a:t>авторизация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;</a:t>
            </a:r>
            <a:endParaRPr lang="ru-R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поддержка ролей администратора, букмекера и пользователя;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создание, удаление и изменения регионов, чемпионатов и команд;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создание и удаление матчей;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изменение роли пользователя;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букмекера добавлять исходы на матч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букмекера изменять коэффициенты на матч;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ставить на футбольные события;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пополнять игровой счет и выводить средства;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просматривать историю ставок;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просматривать историю счета.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3" y="3313252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906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3449954" y="1357312"/>
            <a:ext cx="5103495" cy="445293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9" name="Прямоугольник 8"/>
          <p:cNvSpPr/>
          <p:nvPr/>
        </p:nvSpPr>
        <p:spPr>
          <a:xfrm>
            <a:off x="539430" y="369249"/>
            <a:ext cx="6756978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Схема архитектуры веб-приложения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4" y="3313250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395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39430" y="369249"/>
            <a:ext cx="4833374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Технологии и библиотеки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4" y="3313250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94" name="Picture 2" descr="https://miro.medium.com/max/2800/1*l4nfMFKxfT4yNTWUK2Vsd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908" y="2007812"/>
            <a:ext cx="2682134" cy="1724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https://wsofter.com/wp-content/uploads/2022/05/net_core_logo.sv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887" y="4383899"/>
            <a:ext cx="1378224" cy="1378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https://stickykart.com/wp-content/uploads/2020/11/redu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4086" y="2055087"/>
            <a:ext cx="1497396" cy="1497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https://images.saymedia-content.com/.image/t_share/MTc0NDczMTM4OTg0NDYxOTU4/a-brief-introduction-to-c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4039" y="4250421"/>
            <a:ext cx="1789675" cy="178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2" name="Picture 10" descr="https://camo.githubusercontent.com/1676659c07ae4e01eb6bedbcd22383751cf59747b61ea44d82658c9e4bf090f8/68747470733a2f2f6769746c61622e636f6d2f75706c6f6164732f2d2f73797374656d2f67726f75702f6176617461722f31303732303235332f747970657363726970742e706e67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867" y="2187371"/>
            <a:ext cx="1365113" cy="1365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4" name="Picture 12" descr="https://designlimbo.com/wp-content/uploads/2015/08/entity_image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1482" y="4256774"/>
            <a:ext cx="1573733" cy="1573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8" name="Picture 16" descr="http://pm1.narvii.com/8057/105bd02b10caccf9277fed5a88968c38e8213f83r1-2048-2048v2_uhq.jpg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1570" y="1305471"/>
            <a:ext cx="2951303" cy="2951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530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14" name="Рисунок 13"/>
          <p:cNvPicPr/>
          <p:nvPr/>
        </p:nvPicPr>
        <p:blipFill>
          <a:blip r:embed="rId3"/>
          <a:stretch>
            <a:fillRect/>
          </a:stretch>
        </p:blipFill>
        <p:spPr>
          <a:xfrm>
            <a:off x="3449954" y="1357312"/>
            <a:ext cx="5103495" cy="445293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5" name="Прямоугольник 14"/>
          <p:cNvSpPr/>
          <p:nvPr/>
        </p:nvSpPr>
        <p:spPr>
          <a:xfrm>
            <a:off x="539430" y="369249"/>
            <a:ext cx="7002238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Диаграмма вариантов использования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40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39430" y="369249"/>
            <a:ext cx="5787162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Логическая схема базы данных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427" y="1103512"/>
            <a:ext cx="8860546" cy="542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486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539430" y="369249"/>
            <a:ext cx="5237331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Блок схема принятия ставки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524" y="1257375"/>
            <a:ext cx="9540235" cy="47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766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9430" y="369249"/>
            <a:ext cx="4350871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Демонстрация проекта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104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9430" y="369249"/>
            <a:ext cx="6882012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Таблица экономических показателей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681964"/>
              </p:ext>
            </p:extLst>
          </p:nvPr>
        </p:nvGraphicFramePr>
        <p:xfrm>
          <a:off x="2105025" y="1257375"/>
          <a:ext cx="7981950" cy="465962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282452">
                  <a:extLst>
                    <a:ext uri="{9D8B030D-6E8A-4147-A177-3AD203B41FA5}">
                      <a16:colId xmlns:a16="http://schemas.microsoft.com/office/drawing/2014/main" val="557272881"/>
                    </a:ext>
                  </a:extLst>
                </a:gridCol>
                <a:gridCol w="2699498">
                  <a:extLst>
                    <a:ext uri="{9D8B030D-6E8A-4147-A177-3AD203B41FA5}">
                      <a16:colId xmlns:a16="http://schemas.microsoft.com/office/drawing/2014/main" val="1521903410"/>
                    </a:ext>
                  </a:extLst>
                </a:gridCol>
              </a:tblGrid>
              <a:tr h="3317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Наименование показателя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Значение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2660445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Время разработки, ч.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393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37291574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Количество разработчиков, чел.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60128973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Основная заработная плата,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3898,56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43914167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Дополнительная заработная плата,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584,78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2131517"/>
                  </a:ext>
                </a:extLst>
              </a:tr>
              <a:tr h="67882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Отчисления в Фонд социальной защиты населения и БРУСП «Белгосстрах», %,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1524,34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48736952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Отчисления в БРУСП «Белгосстрах»,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26,90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1858895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Прочие прямые затраты, руб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805,20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4380069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Накладные расходы,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1949,28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57110695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Полная себестоимость,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8789,06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47640697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Чистая прибыль,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2636,72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27200857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Уровень рентабельности, </a:t>
                      </a:r>
                      <a:r>
                        <a:rPr lang="en-US" sz="1400">
                          <a:effectLst/>
                        </a:rPr>
                        <a:t>%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30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4279983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Цена реализации,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11425,78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3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63672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9430" y="369249"/>
            <a:ext cx="2366353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Заключение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1943100" y="1257375"/>
            <a:ext cx="856141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ea typeface="Lato" panose="020F0502020204030203" pitchFamily="34" charset="0"/>
                <a:cs typeface="Lato" panose="020F0502020204030203" pitchFamily="34" charset="0"/>
              </a:rPr>
              <a:t>Для достижения поставленных целей были проделаны следующие действия: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произведен обзор и анализ аналогов;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подобраны нужные технологии и инструменты;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спроектированы схемы архитектуры приложения, базы данных и диаграмма вариантов использования;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разработана клиентская и серверная части приложения</a:t>
            </a:r>
            <a:r>
              <a:rPr lang="en-US" dirty="0" smtClean="0">
                <a:latin typeface="Lato" panose="020F0502020204030203"/>
                <a:ea typeface="Lato" panose="020F0502020204030203" pitchFamily="34" charset="0"/>
                <a:cs typeface="Lato" panose="020F0502020204030203" pitchFamily="34" charset="0"/>
              </a:rPr>
              <a:t>;</a:t>
            </a:r>
            <a:endParaRPr lang="ru-RU" dirty="0" smtClean="0"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протестированы все функции приложения;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написано руководство пользователя</a:t>
            </a:r>
            <a:r>
              <a:rPr lang="en-US" dirty="0" smtClean="0">
                <a:latin typeface="Lato" panose="020F0502020204030203"/>
                <a:ea typeface="Lato" panose="020F0502020204030203" pitchFamily="34" charset="0"/>
                <a:cs typeface="Lato" panose="020F0502020204030203" pitchFamily="34" charset="0"/>
              </a:rPr>
              <a:t>;</a:t>
            </a:r>
            <a:endParaRPr lang="ru-RU" dirty="0" smtClean="0"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рассчитаны экономические показатели проекта.</a:t>
            </a:r>
            <a:endParaRPr lang="ru-RU" dirty="0"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1232683" y="4185478"/>
            <a:ext cx="976953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В ходе выполнения дипломного проекта </a:t>
            </a:r>
            <a:r>
              <a:rPr lang="ru-RU" sz="2000" dirty="0"/>
              <a:t>была полностью достигнута поставленная цель по разработке программного средства и создан проект для ставок на футбольные события. Были учтены все требования, а задачи дипломного проекта выполнены в полном объеме.</a:t>
            </a:r>
            <a:endParaRPr lang="ru-RU" sz="2000" dirty="0" smtClean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749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826"/>
            <a:ext cx="12192000" cy="6872825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-1" y="-14826"/>
            <a:ext cx="12192000" cy="2176896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4979872"/>
            <a:ext cx="12192000" cy="1878127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2164080"/>
            <a:ext cx="12192000" cy="2819400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 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 flipH="1">
            <a:off x="0" y="149824"/>
            <a:ext cx="1219200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Учреждения образования  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«БЕЛОРУССКИЙ ГОСУДАРСТВЕННЫЙ ТЕХНОЛОГИЧЕСКИЙ УНИВЕРСИТЕТ»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Факультет информационных технологий</a:t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Кафедра информационных систем и технологий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Специальность 1-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40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Информационные системы и технологии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»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 flipH="1">
            <a:off x="2" y="2390324"/>
            <a:ext cx="12191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</a:t>
            </a:r>
            <a:r>
              <a:rPr lang="ru-RU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й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-52"/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flipH="1">
            <a:off x="134811" y="3207729"/>
            <a:ext cx="12192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</a:rPr>
              <a:t>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</a:rPr>
              <a:t>для букмекерских ставок на футбольные события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30823" y="5439989"/>
            <a:ext cx="83341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Дипломник: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Гой Максим Антонович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Руководитель: 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преподаватель-стажёр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Комарова Елизавета Ивановна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382501" y="6444734"/>
            <a:ext cx="12234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Минск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2023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0493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388</Words>
  <Application>Microsoft Office PowerPoint</Application>
  <PresentationFormat>Широкоэкранный</PresentationFormat>
  <Paragraphs>90</Paragraphs>
  <Slides>12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Lato</vt:lpstr>
      <vt:lpstr>Montserrat</vt:lpstr>
      <vt:lpstr>Times New Roman</vt:lpstr>
      <vt:lpstr>Тема Office</vt:lpstr>
      <vt:lpstr>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Goy Maxim</dc:creator>
  <cp:lastModifiedBy>Goy Maxim</cp:lastModifiedBy>
  <cp:revision>10</cp:revision>
  <dcterms:created xsi:type="dcterms:W3CDTF">2023-06-06T14:36:48Z</dcterms:created>
  <dcterms:modified xsi:type="dcterms:W3CDTF">2023-06-06T18:11:59Z</dcterms:modified>
</cp:coreProperties>
</file>